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0515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8" y="109728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D3E8"/>
                </a:solidFill>
                <a:latin typeface="Calibri"/>
              </a:rPr>
              <a:t>PRODUCT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mbria"/>
              </a:rPr>
              <a:t>Trust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2900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Calibri"/>
              </a:rPr>
              <a:t>Instant refunds for honest customers. </a:t>
            </a:r>
            <a:r>
              <a:rPr sz="2300" b="1">
                <a:solidFill>
                  <a:srgbClr val="E23744"/>
                </a:solidFill>
                <a:latin typeface="Calibri"/>
              </a:rPr>
              <a:t>A speed bump for fraud.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3E8"/>
                </a:solidFill>
                <a:latin typeface="Calibri"/>
              </a:rPr>
              <a:t>A refund verification system for quick-commerce platforms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5806440"/>
            <a:ext cx="109728" cy="109728"/>
          </a:xfrm>
          <a:prstGeom prst="ellipse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70585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Poojan Advani</a:t>
            </a:r>
            <a:r>
              <a:rPr sz="1350" b="0">
                <a:solidFill>
                  <a:srgbClr val="C9D3E8"/>
                </a:solidFill>
                <a:latin typeface="Calibri"/>
              </a:rPr>
              <a:t>    ·    Product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Fast refunds or careful checks?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707070"/>
                </a:solidFill>
                <a:latin typeface="Calibri"/>
              </a:rPr>
              <a:t>Today, platforms have to pick one — and both choices hurt.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5358384" cy="28803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4956048" cy="2478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C7A3D"/>
                </a:solidFill>
                <a:latin typeface="Cambria"/>
              </a:rPr>
              <a:t>No-questions refunds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Customers are happy — money back in seconds.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But abuse is easy: free money for anyone who asks, and photos get reused across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2057400"/>
            <a:ext cx="5358384" cy="28803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2258568"/>
            <a:ext cx="4956048" cy="2478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B1710C"/>
                </a:solidFill>
                <a:latin typeface="Cambria"/>
              </a:rPr>
              <a:t>Review everything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Fraud drops — a person checks each claim.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But honest people wait days, and agents drown in claims that were fine all along.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38928"/>
            <a:ext cx="11091672" cy="1005840"/>
          </a:xfrm>
          <a:prstGeom prst="roundRect">
            <a:avLst>
              <a:gd name="adj" fmla="val 6000"/>
            </a:avLst>
          </a:prstGeom>
          <a:solidFill>
            <a:srgbClr val="1B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38928"/>
            <a:ext cx="1109167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mbria"/>
              </a:rPr>
              <a:t>The same policy that delights customers is the one that invites fraud.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The money and the frustration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630168" cy="23317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783080"/>
            <a:ext cx="31912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23744"/>
                </a:solidFill>
                <a:latin typeface="Cambria"/>
              </a:rPr>
              <a:t>10–15%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of refund spend lost to abuse in retail &amp; quick commerce (industry, directional)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600200"/>
            <a:ext cx="3630168" cy="23317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1783080"/>
            <a:ext cx="31912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C1C1C"/>
                </a:solidFill>
                <a:latin typeface="Cambria"/>
              </a:rPr>
              <a:t>Days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honest customers wait when every claim is checked by hand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630168" cy="23317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1912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C1C1C"/>
                </a:solidFill>
                <a:latin typeface="Cambria"/>
              </a:rPr>
              <a:t>Most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of an agent's time goes to claims that turn out to be genuine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15968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“No-questions” refund policies get shared and gamed — the same “damaged item” photo shows up on account after account.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07070"/>
                </a:solidFill>
                <a:latin typeface="Calibri"/>
              </a:rPr>
              <a:t>Directional framing for the problem, not measured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Is this problem real?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630168" cy="2148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01368"/>
            <a:ext cx="3227832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23744"/>
                </a:solidFill>
                <a:latin typeface="Cambria"/>
              </a:rPr>
              <a:t>True problem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Speed and safety pull against each other — today it's one or the other.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600200"/>
            <a:ext cx="3630168" cy="2148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801368"/>
            <a:ext cx="3227832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C1C1C"/>
                </a:solidFill>
                <a:latin typeface="Cambria"/>
              </a:rPr>
              <a:t>Evidence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Known abuse losses, the same photo reused across accounts, steady slow-refund complaints.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630168" cy="2148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801368"/>
            <a:ext cx="3227832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7A3D"/>
                </a:solidFill>
                <a:latin typeface="Cambria"/>
              </a:rPr>
              <a:t>Value created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Fast, fair refunds for customers; less fraud paid out; agents focus on the real edge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087368"/>
            <a:ext cx="5038344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C1C1C"/>
                </a:solidFill>
                <a:latin typeface="Cambria"/>
              </a:rPr>
              <a:t>Who feels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Customers, ops agents, finance, and the platform — all at 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8862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87368"/>
            <a:ext cx="5038344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23744"/>
                </a:solidFill>
                <a:latin typeface="Cambria"/>
              </a:rPr>
              <a:t>Why now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Order volume is booming, phone photos are everywhere, and simple photo checks are finally practical.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WHO WE'RE BUILDING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Two people, same app — different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58384" cy="2084831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956816"/>
            <a:ext cx="182880" cy="182880"/>
          </a:xfrm>
          <a:prstGeom prst="ellipse">
            <a:avLst/>
          </a:prstGeom>
          <a:solidFill>
            <a:srgbClr val="2C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865376"/>
            <a:ext cx="4535424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  <a:latin typeface="Cambria"/>
              </a:rPr>
              <a:t>Priya</a:t>
            </a:r>
            <a:r>
              <a:rPr sz="1600" b="0">
                <a:solidFill>
                  <a:srgbClr val="707070"/>
                </a:solidFill>
                <a:latin typeface="Cambria"/>
              </a:rPr>
              <a:t>  —  honest customer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“My paneer arrived spoiled. I just want my ₹340 back, now.”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45920"/>
            <a:ext cx="5358384" cy="2084831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37960" y="1956816"/>
            <a:ext cx="182880" cy="182880"/>
          </a:xfrm>
          <a:prstGeom prst="ellipse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8856" y="1865376"/>
            <a:ext cx="4535424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  <a:latin typeface="Cambria"/>
              </a:rPr>
              <a:t>Rahul</a:t>
            </a:r>
            <a:r>
              <a:rPr sz="1600" b="0">
                <a:solidFill>
                  <a:srgbClr val="707070"/>
                </a:solidFill>
                <a:latin typeface="Cambria"/>
              </a:rPr>
              <a:t>  —  refund abuser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Reuses the same photo to claim refunds again and again.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13632"/>
            <a:ext cx="5358384" cy="2084831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4224528"/>
            <a:ext cx="182880" cy="182880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133088"/>
            <a:ext cx="4535424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  <a:latin typeface="Cambria"/>
              </a:rPr>
              <a:t>Sana</a:t>
            </a:r>
            <a:r>
              <a:rPr sz="1600" b="0">
                <a:solidFill>
                  <a:srgbClr val="707070"/>
                </a:solidFill>
                <a:latin typeface="Cambria"/>
              </a:rPr>
              <a:t>  —  trust &amp; safety agent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Buried in claims that are mostly genuine.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3913632"/>
            <a:ext cx="5358384" cy="2084831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4224528"/>
            <a:ext cx="182880" cy="182880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8856" y="4133088"/>
            <a:ext cx="4535424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  <a:latin typeface="Cambria"/>
              </a:rPr>
              <a:t>Arjun</a:t>
            </a:r>
            <a:r>
              <a:rPr sz="1600" b="0">
                <a:solidFill>
                  <a:srgbClr val="707070"/>
                </a:solidFill>
                <a:latin typeface="Cambria"/>
              </a:rPr>
              <a:t>  —  finance / risk lead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Watching refund costs climb every quarter.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Goals and non-goals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58384" cy="4480560"/>
          </a:xfrm>
          <a:prstGeom prst="roundRect">
            <a:avLst>
              <a:gd name="adj" fmla="val 6000"/>
            </a:avLst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1928" y="1645920"/>
            <a:ext cx="5358384" cy="4480560"/>
          </a:xfrm>
          <a:prstGeom prst="roundRect">
            <a:avLst>
              <a:gd name="adj" fmla="val 6000"/>
            </a:avLst>
          </a:prstGeom>
          <a:solidFill>
            <a:srgbClr val="F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01952"/>
            <a:ext cx="48097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7A3D"/>
                </a:solidFill>
                <a:latin typeface="Cambria"/>
              </a:rPr>
              <a:t>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4809744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2C7A3D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Instant refunds for clearly honest claims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2C7A3D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Catch obvious abuse the moment a claim is made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2C7A3D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Send only the tricky few to a human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2C7A3D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Keep every decision easy to explain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248" y="1901952"/>
            <a:ext cx="48097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81826"/>
                </a:solidFill>
                <a:latin typeface="Cambria"/>
              </a:rPr>
              <a:t>Non-goals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2514600"/>
            <a:ext cx="4809744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Not replacing human judgment on hard cases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Not auto-rejecting customers — low trust means “review,” never a hard “no”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Not a payments, chargeback, or identity system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Not storing customers' photos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A quick trust check on every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C1C"/>
                </a:solidFill>
                <a:latin typeface="Cambria"/>
              </a:rPr>
              <a:t>Claim + photo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07792" y="2226564"/>
            <a:ext cx="457200" cy="256032"/>
          </a:xfrm>
          <a:prstGeom prst="right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1783080"/>
            <a:ext cx="2194560" cy="1143000"/>
          </a:xfrm>
          <a:prstGeom prst="roundRect">
            <a:avLst>
              <a:gd name="adj" fmla="val 6000"/>
            </a:avLst>
          </a:prstGeom>
          <a:solidFill>
            <a:srgbClr val="1B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783080"/>
            <a:ext cx="21945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Trust check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24144" y="2226564"/>
            <a:ext cx="457200" cy="256032"/>
          </a:xfrm>
          <a:prstGeom prst="right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72784" y="178308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783080"/>
            <a:ext cx="20116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C1C"/>
                </a:solidFill>
                <a:latin typeface="Cambria"/>
              </a:rPr>
              <a:t>Score 0–100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375904" y="1874519"/>
            <a:ext cx="457200" cy="237744"/>
          </a:xfrm>
          <a:prstGeom prst="right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375904" y="2596896"/>
            <a:ext cx="457200" cy="237744"/>
          </a:xfrm>
          <a:prstGeom prst="right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15400" y="1572768"/>
            <a:ext cx="2724912" cy="868680"/>
          </a:xfrm>
          <a:prstGeom prst="roundRect">
            <a:avLst>
              <a:gd name="adj" fmla="val 6000"/>
            </a:avLst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572768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7A3D"/>
                </a:solidFill>
                <a:latin typeface="Calibri"/>
              </a:rPr>
              <a:t>High → </a:t>
            </a:r>
            <a:r>
              <a:rPr sz="1300" b="0">
                <a:solidFill>
                  <a:srgbClr val="1C1C1C"/>
                </a:solidFill>
                <a:latin typeface="Calibri"/>
              </a:rPr>
              <a:t>Instant refund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542032"/>
            <a:ext cx="2724912" cy="868680"/>
          </a:xfrm>
          <a:prstGeom prst="roundRect">
            <a:avLst>
              <a:gd name="adj" fmla="val 6000"/>
            </a:avLst>
          </a:prstGeom>
          <a:solidFill>
            <a:srgbClr val="FD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5420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1710C"/>
                </a:solidFill>
                <a:latin typeface="Calibri"/>
              </a:rPr>
              <a:t>Low → </a:t>
            </a:r>
            <a:r>
              <a:rPr sz="1300" b="0">
                <a:solidFill>
                  <a:srgbClr val="1C1C1C"/>
                </a:solidFill>
                <a:latin typeface="Calibri"/>
              </a:rPr>
              <a:t>Quick human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1109167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Most refund claims are honest — approve them instantly if we can spot the few that aren't.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High score with no red flags → refund credited on the spot.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Low score or a red flag → fast human review, not a rejection.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Either way, the customer feels one smooth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HOW IT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What the trust check looks 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630168" cy="1691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01368"/>
            <a:ext cx="3227832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C1C1C"/>
                </a:solidFill>
                <a:latin typeface="Cambria"/>
              </a:rPr>
              <a:t>Account history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Is this a normal, established customer?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600200"/>
            <a:ext cx="3630168" cy="1691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801368"/>
            <a:ext cx="3227832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C1C1C"/>
                </a:solidFill>
                <a:latin typeface="Cambria"/>
              </a:rPr>
              <a:t>Claim details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Does the claim make sense — amount, timing, proof?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630168" cy="1691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801368"/>
            <a:ext cx="3227832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C1C1C"/>
                </a:solidFill>
                <a:latin typeface="Cambria"/>
              </a:rPr>
              <a:t>Risk flags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Anything our systems already flagged?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56432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F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657600"/>
            <a:ext cx="503834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A81826"/>
                </a:solidFill>
                <a:latin typeface="Cambria"/>
              </a:rPr>
              <a:t>Photo — real damage?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Does it actually show spoiled or damaged food?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456432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F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503834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A81826"/>
                </a:solidFill>
                <a:latin typeface="Cambria"/>
              </a:rPr>
              <a:t>Photo — genuine?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A real photo — not edited, computer-made, or reused from another account?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68112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C1C"/>
                </a:solidFill>
                <a:latin typeface="Cambria"/>
              </a:rPr>
              <a:t>The two photo checks count the most — that's where fraud usually hides.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THE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Three taps: report, snap, done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3017520" cy="3063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3017520" cy="566928"/>
          </a:xfrm>
          <a:prstGeom prst="roundRect">
            <a:avLst>
              <a:gd name="adj" fmla="val 10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514600"/>
            <a:ext cx="2505456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07070"/>
                </a:solidFill>
                <a:latin typeface="Calibri"/>
              </a:rPr>
              <a:t>•  </a:t>
            </a:r>
            <a:r>
              <a:rPr sz="1250" b="0">
                <a:solidFill>
                  <a:srgbClr val="1C1C1C"/>
                </a:solidFill>
                <a:latin typeface="Calibri"/>
              </a:rPr>
              <a:t>Your recent order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07070"/>
                </a:solidFill>
                <a:latin typeface="Calibri"/>
              </a:rPr>
              <a:t>•  </a:t>
            </a:r>
            <a:r>
              <a:rPr sz="1250" b="0">
                <a:solidFill>
                  <a:srgbClr val="1C1C1C"/>
                </a:solidFill>
                <a:latin typeface="Calibri"/>
              </a:rPr>
              <a:t>A clear “Report an issue” button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41648" y="3095244"/>
            <a:ext cx="457200" cy="256032"/>
          </a:xfrm>
          <a:prstGeom prst="right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691640"/>
            <a:ext cx="3017520" cy="3063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1691640"/>
            <a:ext cx="3017520" cy="566928"/>
          </a:xfrm>
          <a:prstGeom prst="roundRect">
            <a:avLst>
              <a:gd name="adj" fmla="val 10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Order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514600"/>
            <a:ext cx="2505456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07070"/>
                </a:solidFill>
                <a:latin typeface="Calibri"/>
              </a:rPr>
              <a:t>•  </a:t>
            </a:r>
            <a:r>
              <a:rPr sz="1250" b="0">
                <a:solidFill>
                  <a:srgbClr val="1C1C1C"/>
                </a:solidFill>
                <a:latin typeface="Calibri"/>
              </a:rPr>
              <a:t>The itemized order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07070"/>
                </a:solidFill>
                <a:latin typeface="Calibri"/>
              </a:rPr>
              <a:t>•  </a:t>
            </a:r>
            <a:r>
              <a:rPr sz="1250" b="0">
                <a:solidFill>
                  <a:srgbClr val="1C1C1C"/>
                </a:solidFill>
                <a:latin typeface="Calibri"/>
              </a:rPr>
              <a:t>“Report damaged / spoiled food”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4967" y="3095244"/>
            <a:ext cx="457200" cy="256032"/>
          </a:xfrm>
          <a:prstGeom prst="right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691640"/>
            <a:ext cx="3017520" cy="3063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691640"/>
            <a:ext cx="3017520" cy="566928"/>
          </a:xfrm>
          <a:prstGeom prst="roundRect">
            <a:avLst>
              <a:gd name="adj" fmla="val 10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Capture &amp;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514600"/>
            <a:ext cx="2505456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07070"/>
                </a:solidFill>
                <a:latin typeface="Calibri"/>
              </a:rPr>
              <a:t>•  </a:t>
            </a:r>
            <a:r>
              <a:rPr sz="1250" b="0">
                <a:solidFill>
                  <a:srgbClr val="1C1C1C"/>
                </a:solidFill>
                <a:latin typeface="Calibri"/>
              </a:rPr>
              <a:t>Open the camera or upload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07070"/>
                </a:solidFill>
                <a:latin typeface="Calibri"/>
              </a:rPr>
              <a:t>•  </a:t>
            </a:r>
            <a:r>
              <a:rPr sz="1250" b="0">
                <a:solidFill>
                  <a:srgbClr val="1C1C1C"/>
                </a:solidFill>
                <a:latin typeface="Calibri"/>
              </a:rPr>
              <a:t>Dark or blank photos caught first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07070"/>
                </a:solidFill>
                <a:latin typeface="Calibri"/>
              </a:rPr>
              <a:t>•  </a:t>
            </a:r>
            <a:r>
              <a:rPr sz="1250" b="0">
                <a:solidFill>
                  <a:srgbClr val="1C1C1C"/>
                </a:solidFill>
                <a:latin typeface="Calibri"/>
              </a:rPr>
              <a:t>Answer in seconds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7A3D"/>
                </a:solidFill>
                <a:latin typeface="Calibri"/>
              </a:rPr>
              <a:t>✓  ₹340 credited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5074920"/>
            <a:ext cx="3200400" cy="640080"/>
          </a:xfrm>
          <a:prstGeom prst="roundRect">
            <a:avLst>
              <a:gd name="adj" fmla="val 6000"/>
            </a:avLst>
          </a:prstGeom>
          <a:solidFill>
            <a:srgbClr val="FD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50749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1710C"/>
                </a:solidFill>
                <a:latin typeface="Calibri"/>
              </a:rPr>
              <a:t>Taking a closer 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0749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Honest customers never feel like they hit a checkpoint.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MEASURING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Metrics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772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07070"/>
                </a:solidFill>
                <a:latin typeface="Calibri"/>
              </a:rPr>
              <a:t>Illustrative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88336" cy="187451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3225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C7A3D"/>
                </a:solidFill>
                <a:latin typeface="Cambria"/>
              </a:rPr>
              <a:t>&gt;90%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1C1C"/>
                </a:solidFill>
                <a:latin typeface="Calibri"/>
              </a:rPr>
              <a:t>instant approval for honest claims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6704" y="1554480"/>
            <a:ext cx="2688336" cy="187451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9584" y="1737360"/>
            <a:ext cx="23225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C7A3D"/>
                </a:solidFill>
                <a:latin typeface="Cambria"/>
              </a:rPr>
              <a:t>&gt;80%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1C1C"/>
                </a:solidFill>
                <a:latin typeface="Calibri"/>
              </a:rPr>
              <a:t>fraud caught at claim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554480"/>
            <a:ext cx="2688336" cy="187451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737360"/>
            <a:ext cx="23225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C7A3D"/>
                </a:solidFill>
                <a:latin typeface="Cambria"/>
              </a:rPr>
              <a:t>&lt;1s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1C1C"/>
                </a:solidFill>
                <a:latin typeface="Calibri"/>
              </a:rPr>
              <a:t>to a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2832" y="1554480"/>
            <a:ext cx="2688336" cy="187451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1" y="1737360"/>
            <a:ext cx="23225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C7A3D"/>
                </a:solidFill>
                <a:latin typeface="Cambria"/>
              </a:rPr>
              <a:t>&gt;60%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1C1C"/>
                </a:solidFill>
                <a:latin typeface="Calibri"/>
              </a:rPr>
              <a:t>fewer claims reach an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11091672" cy="2331720"/>
          </a:xfrm>
          <a:prstGeom prst="roundRect">
            <a:avLst>
              <a:gd name="adj" fmla="val 6000"/>
            </a:avLst>
          </a:prstGeom>
          <a:solidFill>
            <a:srgbClr val="F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81826"/>
                </a:solidFill>
                <a:latin typeface="Cambria"/>
              </a:rPr>
              <a:t>Guardrails — don't cross these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Honest claims wrongly sent to review: keep under 5%.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Never auto-decline — a low score means a human looks, not “denied.”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E23744"/>
                </a:solidFill>
                <a:latin typeface="Calibri"/>
              </a:rPr>
              <a:t>●  </a:t>
            </a:r>
            <a:r>
              <a:rPr sz="1350" b="0">
                <a:solidFill>
                  <a:srgbClr val="1C1C1C"/>
                </a:solidFill>
                <a:latin typeface="Calibri"/>
              </a:rPr>
              <a:t>Store the check results and a photo “fingerprint,” never the raw photo.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Risks and how we handle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solidFill>
            <a:srgbClr val="1B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What could go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002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How we handle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03704"/>
            <a:ext cx="11091672" cy="685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03704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1C1C"/>
                </a:solidFill>
                <a:latin typeface="Calibri"/>
              </a:rPr>
              <a:t>Dark or blurry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203704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Caught on the phone before sending; ask for a clearer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44368"/>
            <a:ext cx="11091672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44368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1C1C"/>
                </a:solidFill>
                <a:latin typeface="Calibri"/>
              </a:rPr>
              <a:t>Camera blocked or 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44368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A simple upload option instead.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85032"/>
            <a:ext cx="11091672" cy="685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85032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1C1C"/>
                </a:solidFill>
                <a:latin typeface="Calibri"/>
              </a:rPr>
              <a:t>Network drops mid-claim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8503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Clear retry — the claim isn't lost.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25696"/>
            <a:ext cx="11091672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25696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1C1C"/>
                </a:solidFill>
                <a:latin typeface="Calibri"/>
              </a:rPr>
              <a:t>Same photo reused across accounts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425696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A photo fingerprint matches it and flags it for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11091672" cy="685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1C1C"/>
                </a:solidFill>
                <a:latin typeface="Calibri"/>
              </a:rPr>
              <a:t>Real customer re-uploads on their own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16636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Allowed, not punished.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07024"/>
            <a:ext cx="11091672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907024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1C1C"/>
                </a:solidFill>
                <a:latin typeface="Calibri"/>
              </a:rPr>
              <a:t>Photo check unsure or offline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907024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Fall back to simpler checks plus a human; refunds are never fully blocked.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THE 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How we'd roll it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1C1C"/>
                </a:solidFill>
                <a:latin typeface="Cambria"/>
              </a:rPr>
              <a:t>Go-to-market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532888"/>
            <a:ext cx="310896" cy="310896"/>
          </a:xfrm>
          <a:prstGeom prst="ellipse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328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1460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Start in one high-abuse category (fresh / grocery) on one platform.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74136"/>
            <a:ext cx="310896" cy="310896"/>
          </a:xfrm>
          <a:prstGeom prst="ellipse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55848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Run in shadow mode first: score claims but don't act — tune on real data.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215383"/>
            <a:ext cx="310896" cy="310896"/>
          </a:xfrm>
          <a:prstGeom prst="ellipse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15383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197096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Turn on instant refunds for high-trust claims; review the rest.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056631"/>
            <a:ext cx="310896" cy="310896"/>
          </a:xfrm>
          <a:prstGeom prst="ellipse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5663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038344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Expand category by category as accuracy holds 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64592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87451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1C1C"/>
                </a:solidFill>
                <a:latin typeface="Cambria"/>
              </a:rPr>
              <a:t>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560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7A3D"/>
                </a:solidFill>
                <a:latin typeface="Cambria"/>
              </a:rPr>
              <a:t>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4436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Trust score, photo checks, reused-photo detection, instant decisions, audit trail.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7307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1710C"/>
                </a:solidFill>
                <a:latin typeface="Cambria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1148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Sharper photo checks, faster photo matching at scale, an agent review screen.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90118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07070"/>
                </a:solidFill>
                <a:latin typeface="Cambria"/>
              </a:rPr>
              <a:t>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285232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Learn from agent decisions; tune by region and category.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