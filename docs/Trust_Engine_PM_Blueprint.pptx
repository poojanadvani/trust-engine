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17320" y="548640"/>
            <a:ext cx="7315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D3E8"/>
                </a:solidFill>
                <a:latin typeface="Calibri"/>
              </a:rPr>
              <a:t>PRODUCT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Trust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84831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C9D3E8"/>
                </a:solidFill>
                <a:latin typeface="Calibri"/>
              </a:rPr>
              <a:t>The quick-commerce refund dilemma — </a:t>
            </a:r>
            <a:r>
              <a:rPr sz="1550" b="1">
                <a:solidFill>
                  <a:srgbClr val="FFFFFF"/>
                </a:solidFill>
                <a:latin typeface="Calibri"/>
              </a:rPr>
              <a:t>one policy can't be both fast and safe.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2C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788920"/>
            <a:ext cx="4992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Zero-friction refunds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19272"/>
            <a:ext cx="5212080" cy="1618488"/>
          </a:xfrm>
          <a:prstGeom prst="roundRect">
            <a:avLst>
              <a:gd name="adj" fmla="val 7000"/>
            </a:avLst>
          </a:prstGeom>
          <a:solidFill>
            <a:srgbClr val="2A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520440"/>
            <a:ext cx="480974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23744"/>
                </a:solidFill>
                <a:latin typeface="Calibri"/>
              </a:rPr>
              <a:t>•  </a:t>
            </a:r>
            <a:r>
              <a:rPr sz="1200" b="1">
                <a:solidFill>
                  <a:srgbClr val="FFFFFF"/>
                </a:solidFill>
                <a:latin typeface="Calibri"/>
              </a:rPr>
              <a:t>Win: </a:t>
            </a:r>
            <a:r>
              <a:rPr sz="1200" b="0">
                <a:solidFill>
                  <a:srgbClr val="FFFFFF"/>
                </a:solidFill>
                <a:latin typeface="Calibri"/>
              </a:rPr>
              <a:t>money back in seconds, high CSAT, retention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23744"/>
                </a:solidFill>
                <a:latin typeface="Calibri"/>
              </a:rPr>
              <a:t>•  </a:t>
            </a:r>
            <a:r>
              <a:rPr sz="1200" b="1">
                <a:solidFill>
                  <a:srgbClr val="FFFFFF"/>
                </a:solidFill>
                <a:latin typeface="Calibri"/>
              </a:rPr>
              <a:t>Cost: </a:t>
            </a:r>
            <a:r>
              <a:rPr sz="1200" b="0">
                <a:solidFill>
                  <a:srgbClr val="FFFFFF"/>
                </a:solidFill>
                <a:latin typeface="Calibri"/>
              </a:rPr>
              <a:t>refund leakage, policy-gaming, reused photos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788920"/>
            <a:ext cx="5193792" cy="457200"/>
          </a:xfrm>
          <a:prstGeom prst="roundRect">
            <a:avLst>
              <a:gd name="adj" fmla="val 16000"/>
            </a:avLst>
          </a:prstGeom>
          <a:solidFill>
            <a:srgbClr val="B17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788920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Review everything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19272"/>
            <a:ext cx="5193792" cy="1618488"/>
          </a:xfrm>
          <a:prstGeom prst="roundRect">
            <a:avLst>
              <a:gd name="adj" fmla="val 7000"/>
            </a:avLst>
          </a:prstGeom>
          <a:solidFill>
            <a:srgbClr val="2A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520440"/>
            <a:ext cx="4791455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23744"/>
                </a:solidFill>
                <a:latin typeface="Calibri"/>
              </a:rPr>
              <a:t>•  </a:t>
            </a:r>
            <a:r>
              <a:rPr sz="1200" b="1">
                <a:solidFill>
                  <a:srgbClr val="FFFFFF"/>
                </a:solidFill>
                <a:latin typeface="Calibri"/>
              </a:rPr>
              <a:t>Win: </a:t>
            </a:r>
            <a:r>
              <a:rPr sz="1200" b="0">
                <a:solidFill>
                  <a:srgbClr val="FFFFFF"/>
                </a:solidFill>
                <a:latin typeface="Calibri"/>
              </a:rPr>
              <a:t>fraud drops, spend controlled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E23744"/>
                </a:solidFill>
                <a:latin typeface="Calibri"/>
              </a:rPr>
              <a:t>•  </a:t>
            </a:r>
            <a:r>
              <a:rPr sz="1200" b="1">
                <a:solidFill>
                  <a:srgbClr val="FFFFFF"/>
                </a:solidFill>
                <a:latin typeface="Calibri"/>
              </a:rPr>
              <a:t>Cost: </a:t>
            </a:r>
            <a:r>
              <a:rPr sz="1200" b="0">
                <a:solidFill>
                  <a:srgbClr val="FFFFFF"/>
                </a:solidFill>
                <a:latin typeface="Calibri"/>
              </a:rPr>
              <a:t>honest customers wait, agent queues 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23744"/>
                </a:solidFill>
                <a:latin typeface="Calibri"/>
              </a:rPr>
              <a:t>Pay the honest instantly. Slow down only the suspicious. Prove every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1500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2A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5-signal risk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27882" y="571500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2A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9322" y="571500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darkness gate (&lt;15)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2804" y="571500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2A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4244" y="571500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pHash reuse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7726" y="571500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2A3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9166" y="571500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trust bands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9D3E8"/>
                </a:solidFill>
                <a:latin typeface="Calibri"/>
              </a:rPr>
              <a:t>Poojan Advani  ·  Product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mbria"/>
              </a:rPr>
              <a:t>Problem Framing 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30168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True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01952"/>
            <a:ext cx="3630168" cy="180136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3227832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Forced choice: </a:t>
            </a:r>
            <a:r>
              <a:rPr sz="1100" b="0">
                <a:solidFill>
                  <a:srgbClr val="1C1C1C"/>
                </a:solidFill>
                <a:latin typeface="Calibri"/>
              </a:rPr>
              <a:t>one refund policy must be fast OR safe — teams pick one and pay for the 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1371600"/>
            <a:ext cx="3630168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Abuse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901952"/>
            <a:ext cx="3630168" cy="180136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3227832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Reused photos: </a:t>
            </a:r>
            <a:r>
              <a:rPr sz="1100" b="0">
                <a:solidFill>
                  <a:srgbClr val="1C1C1C"/>
                </a:solidFill>
                <a:latin typeface="Calibri"/>
              </a:rPr>
              <a:t>the same damage image appears across accounts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Gamed policies: </a:t>
            </a:r>
            <a:r>
              <a:rPr sz="1100" b="0">
                <a:solidFill>
                  <a:srgbClr val="1C1C1C"/>
                </a:solidFill>
                <a:latin typeface="Calibri"/>
              </a:rPr>
              <a:t>“no-questions” refunds get shared and exploited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Queued genuine claims: </a:t>
            </a:r>
            <a:r>
              <a:rPr sz="1100" b="0">
                <a:solidFill>
                  <a:srgbClr val="1C1C1C"/>
                </a:solidFill>
                <a:latin typeface="Calibri"/>
              </a:rPr>
              <a:t>real issues wait behind manual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71600"/>
            <a:ext cx="3630168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1371600"/>
            <a:ext cx="3410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Why Solve Now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901952"/>
            <a:ext cx="3630168" cy="180136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103120"/>
            <a:ext cx="3227832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Scale: </a:t>
            </a:r>
            <a:r>
              <a:rPr sz="1100" b="0">
                <a:solidFill>
                  <a:srgbClr val="1C1C1C"/>
                </a:solidFill>
                <a:latin typeface="Calibri"/>
              </a:rPr>
              <a:t>claim volume is outpacing manual review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Signal is there: </a:t>
            </a:r>
            <a:r>
              <a:rPr sz="1100" b="0">
                <a:solidFill>
                  <a:srgbClr val="1C1C1C"/>
                </a:solidFill>
                <a:latin typeface="Calibri"/>
              </a:rPr>
              <a:t>photo-backed claims are already the norm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E23744"/>
                </a:solidFill>
                <a:latin typeface="Calibri"/>
              </a:rPr>
              <a:t>•  </a:t>
            </a:r>
            <a:r>
              <a:rPr sz="1100" b="1">
                <a:solidFill>
                  <a:srgbClr val="1C1C1C"/>
                </a:solidFill>
                <a:latin typeface="Calibri"/>
              </a:rPr>
              <a:t>Now practical: </a:t>
            </a:r>
            <a:r>
              <a:rPr sz="1100" b="0">
                <a:solidFill>
                  <a:srgbClr val="1C1C1C"/>
                </a:solidFill>
                <a:latin typeface="Calibri"/>
              </a:rPr>
              <a:t>on-device photo checks + fingerprinting are cheap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5477256" cy="457200"/>
          </a:xfrm>
          <a:prstGeom prst="roundRect">
            <a:avLst>
              <a:gd name="adj" fmla="val 16000"/>
            </a:avLst>
          </a:prstGeom>
          <a:solidFill>
            <a:srgbClr val="2C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8862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Value — Honest 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16552"/>
            <a:ext cx="5477256" cy="180136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617720"/>
            <a:ext cx="5074920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Instant: </a:t>
            </a:r>
            <a:r>
              <a:rPr sz="1150" b="0">
                <a:solidFill>
                  <a:srgbClr val="1C1C1C"/>
                </a:solidFill>
                <a:latin typeface="Calibri"/>
              </a:rPr>
              <a:t>money back in seconds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Effortless: </a:t>
            </a:r>
            <a:r>
              <a:rPr sz="1150" b="0">
                <a:solidFill>
                  <a:srgbClr val="1C1C1C"/>
                </a:solidFill>
                <a:latin typeface="Calibri"/>
              </a:rPr>
              <a:t>no forms, no waiting, no proof-hunting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886200"/>
            <a:ext cx="5477256" cy="457200"/>
          </a:xfrm>
          <a:prstGeom prst="roundRect">
            <a:avLst>
              <a:gd name="adj" fmla="val 16000"/>
            </a:avLst>
          </a:prstGeom>
          <a:solidFill>
            <a:srgbClr val="2C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388620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Value — Business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4416552"/>
            <a:ext cx="5477256" cy="180136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617720"/>
            <a:ext cx="5074920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Lower leakage: </a:t>
            </a:r>
            <a:r>
              <a:rPr sz="1150" b="0">
                <a:solidFill>
                  <a:srgbClr val="1C1C1C"/>
                </a:solidFill>
                <a:latin typeface="Calibri"/>
              </a:rPr>
              <a:t>less paid out on fake claims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Less ops load: </a:t>
            </a:r>
            <a:r>
              <a:rPr sz="1150" b="0">
                <a:solidFill>
                  <a:srgbClr val="1C1C1C"/>
                </a:solidFill>
                <a:latin typeface="Calibri"/>
              </a:rPr>
              <a:t>fewer manual reviews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Protected margin &amp; trust: </a:t>
            </a:r>
            <a:r>
              <a:rPr sz="1150" b="0">
                <a:solidFill>
                  <a:srgbClr val="1C1C1C"/>
                </a:solidFill>
                <a:latin typeface="Calibri"/>
              </a:rPr>
              <a:t>catch fraud without punishing the honest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WHO WE'RE BUILDING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Personas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2C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Honest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4956048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Goal: </a:t>
            </a:r>
            <a:r>
              <a:rPr sz="1150" b="0">
                <a:solidFill>
                  <a:srgbClr val="1C1C1C"/>
                </a:solidFill>
                <a:latin typeface="Calibri"/>
              </a:rPr>
              <a:t>fast refund when food arrives damaged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Pain: </a:t>
            </a:r>
            <a:r>
              <a:rPr sz="1150" b="0">
                <a:solidFill>
                  <a:srgbClr val="1C1C1C"/>
                </a:solidFill>
                <a:latin typeface="Calibri"/>
              </a:rPr>
              <a:t>treated like a suspect, made to wait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C7A3D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We give: </a:t>
            </a:r>
            <a:r>
              <a:rPr sz="1150" b="0">
                <a:solidFill>
                  <a:srgbClr val="1C1C1C"/>
                </a:solidFill>
                <a:latin typeface="Calibri"/>
              </a:rPr>
              <a:t>instant credit, zero friction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481328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1481328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Refund Abuser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011680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212848"/>
            <a:ext cx="4956048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Goal: </a:t>
            </a:r>
            <a:r>
              <a:rPr sz="1150" b="0">
                <a:solidFill>
                  <a:srgbClr val="1C1C1C"/>
                </a:solidFill>
                <a:latin typeface="Calibri"/>
              </a:rPr>
              <a:t>extract refunds on perfectly fine orders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Pattern: </a:t>
            </a:r>
            <a:r>
              <a:rPr sz="1150" b="0">
                <a:solidFill>
                  <a:srgbClr val="1C1C1C"/>
                </a:solidFill>
                <a:latin typeface="Calibri"/>
              </a:rPr>
              <a:t>reuses one photo across accounts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We give: </a:t>
            </a:r>
            <a:r>
              <a:rPr sz="1150" b="0">
                <a:solidFill>
                  <a:srgbClr val="1C1C1C"/>
                </a:solidFill>
                <a:latin typeface="Calibri"/>
              </a:rPr>
              <a:t>a fingerprint match →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13632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3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913632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Support Ops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43984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45152"/>
            <a:ext cx="4956048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33B4C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Goal: </a:t>
            </a:r>
            <a:r>
              <a:rPr sz="1150" b="0">
                <a:solidFill>
                  <a:srgbClr val="1C1C1C"/>
                </a:solidFill>
                <a:latin typeface="Calibri"/>
              </a:rPr>
              <a:t>resolve real issues quickly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33B4C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Pain: </a:t>
            </a:r>
            <a:r>
              <a:rPr sz="1150" b="0">
                <a:solidFill>
                  <a:srgbClr val="1C1C1C"/>
                </a:solidFill>
                <a:latin typeface="Calibri"/>
              </a:rPr>
              <a:t>buried in claims that are mostly genuine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33B4C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We give: </a:t>
            </a:r>
            <a:r>
              <a:rPr sz="1150" b="0">
                <a:solidFill>
                  <a:srgbClr val="1C1C1C"/>
                </a:solidFill>
                <a:latin typeface="Calibri"/>
              </a:rPr>
              <a:t>only the risky few, with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3913632"/>
            <a:ext cx="5358384" cy="457200"/>
          </a:xfrm>
          <a:prstGeom prst="roundRect">
            <a:avLst>
              <a:gd name="adj" fmla="val 16000"/>
            </a:avLst>
          </a:prstGeom>
          <a:solidFill>
            <a:srgbClr val="3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3913632"/>
            <a:ext cx="51389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Finance / Risk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4443984"/>
            <a:ext cx="5358384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4645152"/>
            <a:ext cx="4956048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33B4C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Goal: </a:t>
            </a:r>
            <a:r>
              <a:rPr sz="1150" b="0">
                <a:solidFill>
                  <a:srgbClr val="1C1C1C"/>
                </a:solidFill>
                <a:latin typeface="Calibri"/>
              </a:rPr>
              <a:t>cut leakage without hurting CSAT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33B4C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Pain: </a:t>
            </a:r>
            <a:r>
              <a:rPr sz="1150" b="0">
                <a:solidFill>
                  <a:srgbClr val="1C1C1C"/>
                </a:solidFill>
                <a:latin typeface="Calibri"/>
              </a:rPr>
              <a:t>refund cost rising with volume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333B4C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We give: </a:t>
            </a:r>
            <a:r>
              <a:rPr sz="1150" b="0">
                <a:solidFill>
                  <a:srgbClr val="1C1C1C"/>
                </a:solidFill>
                <a:latin typeface="Calibri"/>
              </a:rPr>
              <a:t>measurable control +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CORE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5-Signal Scoring &amp; Policy Bands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3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8132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What it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8132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6400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C1C"/>
                </a:solidFill>
                <a:latin typeface="Calibri"/>
              </a:rPr>
              <a:t>Account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1168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normal, established account?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C1C"/>
                </a:solidFill>
                <a:latin typeface="Calibri"/>
              </a:rPr>
              <a:t>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6400800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C1C"/>
                </a:solidFill>
                <a:latin typeface="Calibri"/>
              </a:rPr>
              <a:t>Claim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78608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amount, timing, proof make sense?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78608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C1C"/>
                </a:solidFill>
                <a:latin typeface="Calibri"/>
              </a:rPr>
              <a:t>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45536"/>
            <a:ext cx="6400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45536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C1C"/>
                </a:solidFill>
                <a:latin typeface="Calibri"/>
              </a:rPr>
              <a:t>Risk 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145536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anything upstream flagged?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145536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C1C"/>
                </a:solidFill>
                <a:latin typeface="Calibri"/>
              </a:rPr>
              <a:t>1.5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12464"/>
            <a:ext cx="6400800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12464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C1C"/>
                </a:solidFill>
                <a:latin typeface="Calibri"/>
              </a:rPr>
              <a:t>Photo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712464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does it show real damage?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712464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1C1C"/>
                </a:solidFill>
                <a:latin typeface="Calibri"/>
              </a:rPr>
              <a:t>1.0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79392"/>
            <a:ext cx="6400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79392"/>
            <a:ext cx="3383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1C1C"/>
                </a:solidFill>
                <a:latin typeface="Calibri"/>
              </a:rPr>
              <a:t>Photo authenticity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27939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genuine — not edited/reused?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279392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3744"/>
                </a:solidFill>
                <a:latin typeface="Calibri"/>
              </a:rPr>
              <a:t>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19472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Score = weighted average of applicable signals → 0–100. Photo authenticity carries the most weight.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1481328"/>
            <a:ext cx="4416552" cy="1170432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1627632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C7A3D"/>
                </a:solidFill>
                <a:latin typeface="Cambria"/>
              </a:rPr>
              <a:t>High trust  </a:t>
            </a:r>
            <a:r>
              <a:rPr sz="1500" b="0">
                <a:solidFill>
                  <a:srgbClr val="6B6B6B"/>
                </a:solidFill>
                <a:latin typeface="Cambria"/>
              </a:rPr>
              <a:t>(≥ 70)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2084832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Auto-credit on the spot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2779776"/>
            <a:ext cx="4416552" cy="1170432"/>
          </a:xfrm>
          <a:prstGeom prst="roundRect">
            <a:avLst>
              <a:gd name="adj" fmla="val 10000"/>
            </a:avLst>
          </a:prstGeom>
          <a:solidFill>
            <a:srgbClr val="FD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2926080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1710C"/>
                </a:solidFill>
                <a:latin typeface="Cambria"/>
              </a:rPr>
              <a:t>Medium trust  </a:t>
            </a:r>
            <a:r>
              <a:rPr sz="1500" b="0">
                <a:solidFill>
                  <a:srgbClr val="6B6B6B"/>
                </a:solidFill>
                <a:latin typeface="Cambria"/>
              </a:rPr>
              <a:t>(40–69)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3383280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Route to manual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60" y="4078224"/>
            <a:ext cx="4416552" cy="1170432"/>
          </a:xfrm>
          <a:prstGeom prst="roundRect">
            <a:avLst>
              <a:gd name="adj" fmla="val 10000"/>
            </a:avLst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4224528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23744"/>
                </a:solidFill>
                <a:latin typeface="Cambria"/>
              </a:rPr>
              <a:t>Low trust  </a:t>
            </a:r>
            <a:r>
              <a:rPr sz="1500" b="0">
                <a:solidFill>
                  <a:srgbClr val="6B6B6B"/>
                </a:solidFill>
                <a:latin typeface="Cambria"/>
              </a:rPr>
              <a:t>(&lt; 40)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4681728"/>
            <a:ext cx="3959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Route to priority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394959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Never auto-decline — low trust means a human looks. Weights &amp; cutoffs are configuration, not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3-Layer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2103120" cy="1298448"/>
          </a:xfrm>
          <a:prstGeom prst="roundRect">
            <a:avLst>
              <a:gd name="adj" fmla="val 10000"/>
            </a:avLst>
          </a:prstGeom>
          <a:solidFill>
            <a:srgbClr val="3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92024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481328"/>
            <a:ext cx="88513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1682496"/>
            <a:ext cx="83210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Consumer PWA (3 screens)  ·  camera + darkness gate  ·  instant-resolution card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Entry: POST /returns/evaluate</a:t>
            </a:r>
          </a:p>
        </p:txBody>
      </p:sp>
      <p:sp>
        <p:nvSpPr>
          <p:cNvPr id="8" name="Down Arrow 7"/>
          <p:cNvSpPr/>
          <p:nvPr/>
        </p:nvSpPr>
        <p:spPr>
          <a:xfrm>
            <a:off x="6949440" y="2761488"/>
            <a:ext cx="457200" cy="256032"/>
          </a:xfrm>
          <a:prstGeom prst="down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103120" cy="1298448"/>
          </a:xfrm>
          <a:prstGeom prst="roundRect">
            <a:avLst>
              <a:gd name="adj" fmla="val 10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92024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SCORING LOGIC 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108960"/>
            <a:ext cx="88513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3310128"/>
            <a:ext cx="83210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Vision check (damage + authenticity, heuristic fallback)  →  pHash reuse (Hamming)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→  5-signal weighted engine (deterministic)  →  policy band decision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949440" y="4389120"/>
            <a:ext cx="457200" cy="256032"/>
          </a:xfrm>
          <a:prstGeom prst="down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36592"/>
            <a:ext cx="2103120" cy="1298448"/>
          </a:xfrm>
          <a:prstGeom prst="roundRect">
            <a:avLst>
              <a:gd name="adj" fmla="val 10000"/>
            </a:avLst>
          </a:prstGeom>
          <a:solidFill>
            <a:srgbClr val="2C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36592"/>
            <a:ext cx="1920240" cy="1298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AUDIT &amp; DATA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736592"/>
            <a:ext cx="8851392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4937759"/>
            <a:ext cx="83210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Calibri"/>
              </a:rPr>
              <a:t>Claim log + photo-fingerprint store (indexed)  ·  per-signal explanation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1C1C"/>
                </a:solidFill>
                <a:latin typeface="Calibri"/>
              </a:rPr>
              <a:t>Lookup: GET /evaluations/{id}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59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81826"/>
                </a:solidFill>
                <a:latin typeface="Calibri"/>
              </a:rPr>
              <a:t>Only extracted features + a photo fingerprint are stored — never the raw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Consumer UX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 · Order Details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2044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12848"/>
            <a:ext cx="3118104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Itemized order: </a:t>
            </a:r>
            <a:r>
              <a:rPr sz="1150" b="0">
                <a:solidFill>
                  <a:srgbClr val="1C1C1C"/>
                </a:solidFill>
                <a:latin typeface="Calibri"/>
              </a:rPr>
              <a:t>full bill, delivered status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CTA: </a:t>
            </a:r>
            <a:r>
              <a:rPr sz="1150" b="0">
                <a:solidFill>
                  <a:srgbClr val="1C1C1C"/>
                </a:solidFill>
                <a:latin typeface="Calibri"/>
              </a:rPr>
              <a:t>“Report damaged / spoiled food”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2" y="2971800"/>
            <a:ext cx="36576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53128" y="148132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481328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· Camera + Darkness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011680"/>
            <a:ext cx="352044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212848"/>
            <a:ext cx="3118104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Deferred camera: </a:t>
            </a:r>
            <a:r>
              <a:rPr sz="1150" b="0">
                <a:solidFill>
                  <a:srgbClr val="1C1C1C"/>
                </a:solidFill>
                <a:latin typeface="Calibri"/>
              </a:rPr>
              <a:t>opens only on tap; snap or upload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Luminance gate: </a:t>
            </a:r>
            <a:r>
              <a:rPr sz="1150" b="0">
                <a:solidFill>
                  <a:srgbClr val="1C1C1C"/>
                </a:solidFill>
                <a:latin typeface="Calibri"/>
              </a:rPr>
              <a:t>blocks dark/blank photos (&lt;15) before upload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Privacy: </a:t>
            </a:r>
            <a:r>
              <a:rPr sz="1150" b="0">
                <a:solidFill>
                  <a:srgbClr val="1C1C1C"/>
                </a:solidFill>
                <a:latin typeface="Calibri"/>
              </a:rPr>
              <a:t>camera stops right after the snap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2971800"/>
            <a:ext cx="36576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7616" y="1481328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481328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· Instant 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2011680"/>
            <a:ext cx="3520440" cy="2852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212848"/>
            <a:ext cx="3118104" cy="2450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Result in seconds: </a:t>
            </a:r>
            <a:r>
              <a:rPr sz="1150" b="0">
                <a:solidFill>
                  <a:srgbClr val="1C1C1C"/>
                </a:solidFill>
                <a:latin typeface="Calibri"/>
              </a:rPr>
              <a:t>score + trust band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Outcome: </a:t>
            </a:r>
            <a:r>
              <a:rPr sz="1150" b="0">
                <a:solidFill>
                  <a:srgbClr val="1C1C1C"/>
                </a:solidFill>
                <a:latin typeface="Calibri"/>
              </a:rPr>
              <a:t>auto-credit or “sent to review”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Explainable: </a:t>
            </a:r>
            <a:r>
              <a:rPr sz="1150" b="0">
                <a:solidFill>
                  <a:srgbClr val="1C1C1C"/>
                </a:solidFill>
                <a:latin typeface="Calibri"/>
              </a:rPr>
              <a:t>per-signal breakdown on demand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decision in ~1s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3562" y="521208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5002" y="521208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no raw photo stored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8484" y="521208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9924" y="521208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honest users feel no checkpoint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3406" y="5212080"/>
            <a:ext cx="267690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4846" y="5212080"/>
            <a:ext cx="249402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dark photo → clear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Edge Cases &amp;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512064"/>
          </a:xfrm>
          <a:prstGeom prst="rect">
            <a:avLst/>
          </a:prstGeom>
          <a:solidFill>
            <a:srgbClr val="3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81328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Risk if unhandled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481328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How Trust Engine handles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39112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Dark / blank 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03911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unscoreable image, wasted round 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03911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Client luminance gate rejects it before upload; prompt for a clearer 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51760"/>
            <a:ext cx="11091672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Same photo across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serial refund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651760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pHash match (Hamming) flags reuse from a different account/claim →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64408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64408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Legit re-upload on own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26440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false accusation of a real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264408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Same account and claim re-upload is allowed, not penalized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77056"/>
            <a:ext cx="11091672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77056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Vision model downtime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877056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scoring stalls, refunds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77056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Fallback to lightweight photo heuristics + manual review — never fully blocked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8970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89704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Oversized / non-image 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89704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errors, abuse vector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489704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Size + type gate rejects before processing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1672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0235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No photo provided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10235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can't verify condition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10235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Photo signals excluded (not penalized); decide on the rest or route to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MEASURING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Metrics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7724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Calibri"/>
              </a:rPr>
              <a:t>Targets are design goals, validated in shadow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11091672" cy="512064"/>
          </a:xfrm>
          <a:prstGeom prst="rect">
            <a:avLst/>
          </a:prstGeom>
          <a:solidFill>
            <a:srgbClr val="33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2331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481328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81328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481328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Target 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39112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Auto-approval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039112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auto-credited ÷ total claims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39112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friction removed for honest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039112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&gt; 90%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88336"/>
            <a:ext cx="11091672" cy="603504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88336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Fraud catch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688336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fraud flagged ÷ total fraud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88336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leakage stopped at claim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688336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&gt; 80%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337560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37560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Decision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337560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time to score + decide (p95)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37560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keeps the experience instant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33756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&lt; 1s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86784"/>
            <a:ext cx="11091672" cy="603504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986784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Review deflection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986784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1 − (claims to agent ÷ total)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86784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ops load removed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86784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&gt; 60%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36008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36008"/>
            <a:ext cx="23317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1C1C"/>
                </a:solidFill>
                <a:latin typeface="Calibri"/>
              </a:rPr>
              <a:t>Reuse 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636008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duplicates caught ÷ true duplicates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636008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C1C1C"/>
                </a:solidFill>
                <a:latin typeface="Calibri"/>
              </a:rPr>
              <a:t>serial photo fraud caught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636008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7A3D"/>
                </a:solidFill>
                <a:latin typeface="Calibri"/>
              </a:rPr>
              <a:t>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40096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FC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46811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81826"/>
                </a:solidFill>
                <a:latin typeface="Cambria"/>
              </a:rPr>
              <a:t>Guardrails — don't cross these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4301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●  </a:t>
            </a:r>
            <a:r>
              <a:rPr sz="1150" b="1">
                <a:solidFill>
                  <a:srgbClr val="1C1C1C"/>
                </a:solidFill>
                <a:latin typeface="Calibri"/>
              </a:rPr>
              <a:t>False positives &lt; 5%</a:t>
            </a:r>
            <a:r>
              <a:rPr sz="1150" b="0">
                <a:solidFill>
                  <a:srgbClr val="E23744"/>
                </a:solidFill>
                <a:latin typeface="Calibri"/>
              </a:rPr>
              <a:t>   ●  </a:t>
            </a:r>
            <a:r>
              <a:rPr sz="1150" b="1">
                <a:solidFill>
                  <a:srgbClr val="1C1C1C"/>
                </a:solidFill>
                <a:latin typeface="Calibri"/>
              </a:rPr>
              <a:t>Never auto-decline</a:t>
            </a:r>
            <a:r>
              <a:rPr sz="1150" b="0">
                <a:solidFill>
                  <a:srgbClr val="E23744"/>
                </a:solidFill>
                <a:latin typeface="Calibri"/>
              </a:rPr>
              <a:t>   ●  </a:t>
            </a:r>
            <a:r>
              <a:rPr sz="1150" b="1">
                <a:solidFill>
                  <a:srgbClr val="1C1C1C"/>
                </a:solidFill>
                <a:latin typeface="Calibri"/>
              </a:rPr>
              <a:t>Store a fingerprint, never the raw photo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23744"/>
                </a:solidFill>
                <a:latin typeface="Calibri"/>
              </a:rPr>
              <a:t>THE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C1C1C"/>
                </a:solidFill>
                <a:latin typeface="Cambria"/>
              </a:rPr>
              <a:t>Phased GTM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6304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 · Shadow launch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3392"/>
            <a:ext cx="3520440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94560"/>
            <a:ext cx="311810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Score every claim: </a:t>
            </a:r>
            <a:r>
              <a:rPr sz="1150" b="0">
                <a:solidFill>
                  <a:srgbClr val="1C1C1C"/>
                </a:solidFill>
                <a:latin typeface="Calibri"/>
              </a:rPr>
              <a:t>act on none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Tune: </a:t>
            </a:r>
            <a:r>
              <a:rPr sz="1150" b="0">
                <a:solidFill>
                  <a:srgbClr val="1C1C1C"/>
                </a:solidFill>
                <a:latin typeface="Calibri"/>
              </a:rPr>
              <a:t>weights + band cutoffs on live traffic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96512" y="2377440"/>
            <a:ext cx="36576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53128" y="14630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46304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· Beta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993392"/>
            <a:ext cx="3520440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2194560"/>
            <a:ext cx="311810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Auto-credit: </a:t>
            </a:r>
            <a:r>
              <a:rPr sz="1150" b="0">
                <a:solidFill>
                  <a:srgbClr val="1C1C1C"/>
                </a:solidFill>
                <a:latin typeface="Calibri"/>
              </a:rPr>
              <a:t>high-trust in one category/region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Review the rest: </a:t>
            </a:r>
            <a:r>
              <a:rPr sz="1150" b="0">
                <a:solidFill>
                  <a:srgbClr val="1C1C1C"/>
                </a:solidFill>
                <a:latin typeface="Calibri"/>
              </a:rPr>
              <a:t>watch guardrails closely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01000" y="2377440"/>
            <a:ext cx="365760" cy="256032"/>
          </a:xfrm>
          <a:prstGeom prst="rightArrow">
            <a:avLst/>
          </a:prstGeom>
          <a:solidFill>
            <a:srgbClr val="B6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57616" y="146304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E23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463040"/>
            <a:ext cx="330098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· Full GA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6" y="1993392"/>
            <a:ext cx="3520440" cy="16184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2194560"/>
            <a:ext cx="3118104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Enforce: </a:t>
            </a:r>
            <a:r>
              <a:rPr sz="1150" b="0">
                <a:solidFill>
                  <a:srgbClr val="1C1C1C"/>
                </a:solidFill>
                <a:latin typeface="Calibri"/>
              </a:rPr>
              <a:t>policy bands across categories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E23744"/>
                </a:solidFill>
                <a:latin typeface="Calibri"/>
              </a:rPr>
              <a:t>•  </a:t>
            </a:r>
            <a:r>
              <a:rPr sz="1150" b="1">
                <a:solidFill>
                  <a:srgbClr val="1C1C1C"/>
                </a:solidFill>
                <a:latin typeface="Calibri"/>
              </a:rPr>
              <a:t>Expand: </a:t>
            </a:r>
            <a:r>
              <a:rPr sz="1150" b="0">
                <a:solidFill>
                  <a:srgbClr val="1C1C1C"/>
                </a:solidFill>
                <a:latin typeface="Calibri"/>
              </a:rPr>
              <a:t>as accuracy + false-positive rate hold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3630168" cy="1874519"/>
          </a:xfrm>
          <a:prstGeom prst="roundRect">
            <a:avLst>
              <a:gd name="adj" fmla="val 9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05072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7A3D"/>
                </a:solidFill>
                <a:latin typeface="Cambria"/>
              </a:rPr>
              <a:t>Now (delivered)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407408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5-signal engine, photo checks (with fallback), pHash reuse, policy bands, darkness gate, audit trail, PWA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840480"/>
            <a:ext cx="3630168" cy="1874519"/>
          </a:xfrm>
          <a:prstGeom prst="roundRect">
            <a:avLst>
              <a:gd name="adj" fmla="val 9000"/>
            </a:avLst>
          </a:prstGeom>
          <a:solidFill>
            <a:srgbClr val="FD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4005072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1710C"/>
                </a:solidFill>
                <a:latin typeface="Cambria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407408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Trained damage/authenticity model, indexed reuse matching at scale, agent review console, scoped API keys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40480"/>
            <a:ext cx="3630168" cy="1874519"/>
          </a:xfrm>
          <a:prstGeom prst="roundRect">
            <a:avLst>
              <a:gd name="adj" fmla="val 9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05072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B4C"/>
                </a:solidFill>
                <a:latin typeface="Cambria"/>
              </a:rPr>
              <a:t>Later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07408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C1C1C"/>
                </a:solidFill>
                <a:latin typeface="Calibri"/>
              </a:rPr>
              <a:t>Learn from agent overrides, per-region/category tuning, chargeback/dispute hooks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1826"/>
                </a:solidFill>
                <a:latin typeface="Calibri"/>
              </a:rPr>
              <a:t>Out of scope: </a:t>
            </a:r>
            <a:r>
              <a:rPr sz="1100" b="0">
                <a:solidFill>
                  <a:srgbClr val="6B6B6B"/>
                </a:solidFill>
                <a:latin typeface="Calibri"/>
              </a:rPr>
              <a:t>payments &amp; settlement · chargeback ops · identity / KYC · ticketing / CRM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