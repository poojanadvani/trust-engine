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58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640080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BD5E1"/>
                </a:solidFill>
                <a:latin typeface="Calibri"/>
              </a:rPr>
              <a:t>PRODUCT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Trust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BD5E1"/>
                </a:solidFill>
                <a:latin typeface="Calibri"/>
              </a:rPr>
              <a:t>Automated Risk Scoring for Quick-Commerce Refunds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461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Calibri"/>
              </a:rPr>
              <a:t>Pay the honest instantly. Slow down only the suspicious. </a:t>
            </a:r>
            <a:r>
              <a:rPr sz="1550" b="1">
                <a:solidFill>
                  <a:srgbClr val="E23744"/>
                </a:solidFill>
                <a:latin typeface="Calibri"/>
              </a:rPr>
              <a:t>Prove every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2532888" cy="475488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23500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5-Signal Risk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4343400"/>
            <a:ext cx="2532888" cy="475488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4343400"/>
            <a:ext cx="23500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pHash Reuse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343400"/>
            <a:ext cx="2532888" cy="475488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4343400"/>
            <a:ext cx="23500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Darkness Gate (&lt;15)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05672" y="4343400"/>
            <a:ext cx="2532888" cy="475488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4343400"/>
            <a:ext cx="23500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Configurable Policy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Poojan Advani  ·  Product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293B"/>
                </a:solidFill>
                <a:latin typeface="Cambria"/>
              </a:rPr>
              <a:t>Problem Framing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True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56231"/>
            <a:ext cx="3630168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75687"/>
            <a:ext cx="3191256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Cambria"/>
              </a:rPr>
              <a:t>The Zero-Sum Dilemma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Quick-commerce platforms are trapped between zero-friction instant refunds (high fraud leakage) and manual review for all (high support cost &amp; customer churn).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32588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2588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Abuse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56231"/>
            <a:ext cx="3630168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75687"/>
            <a:ext cx="3191256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Cambria"/>
              </a:rPr>
              <a:t>Systemic Exploitation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Photo-reuse across multi-accounting rings, edited screenshots, and exploited “no-questions” refund policies draining unit margins.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2588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32588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Value to Honest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56231"/>
            <a:ext cx="3630168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75687"/>
            <a:ext cx="3191256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Cambria"/>
              </a:rPr>
              <a:t>Frictionless Resolution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Instant wallet credit in &lt;1 second for legitimate claims — no interrogation, forms, or agent queues.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11091672" cy="402336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57600"/>
            <a:ext cx="10872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Value to Business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33088"/>
            <a:ext cx="11091672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89120"/>
            <a:ext cx="10579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E293B"/>
                </a:solidFill>
                <a:latin typeface="Cambria"/>
              </a:rPr>
              <a:t>Margin &amp; Ops Protection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Plugs 80%+ of automated refund fraud, reduces support-agent review queues by &gt;60%, and provides plain-English audit trails.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1672" cy="402336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074920"/>
            <a:ext cx="10872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Why Solve 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50408"/>
            <a:ext cx="11091672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806440"/>
            <a:ext cx="10579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E293B"/>
                </a:solidFill>
                <a:latin typeface="Cambria"/>
              </a:rPr>
              <a:t>Market &amp; Scale Readiness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High claim volume makes manual review unscalable; client-side vision checks and pHash fingerprinting make sub-second verification cheap and accurate.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WHO WE'RE BUILDING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User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Honest Customer — Priya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31136"/>
            <a:ext cx="4919472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47857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Goal: </a:t>
            </a:r>
            <a:r>
              <a:rPr sz="1150" b="0">
                <a:solidFill>
                  <a:srgbClr val="1E293B"/>
                </a:solidFill>
                <a:latin typeface="Calibri"/>
              </a:rPr>
              <a:t>instant resolution for spoiled food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47857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Pain: </a:t>
            </a:r>
            <a:r>
              <a:rPr sz="1150" b="0">
                <a:solidFill>
                  <a:srgbClr val="1E293B"/>
                </a:solidFill>
                <a:latin typeface="Calibri"/>
              </a:rPr>
              <a:t>treated like a suspect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47857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instant credit, zero friction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481328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148132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Refund Abuser — Rahul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11680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2231136"/>
            <a:ext cx="4919472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81826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Goal: </a:t>
            </a:r>
            <a:r>
              <a:rPr sz="1150" b="0">
                <a:solidFill>
                  <a:srgbClr val="1E293B"/>
                </a:solidFill>
                <a:latin typeface="Calibri"/>
              </a:rPr>
              <a:t>exploit policies for free meals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81826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Pain: </a:t>
            </a:r>
            <a:r>
              <a:rPr sz="1150" b="0">
                <a:solidFill>
                  <a:srgbClr val="1E293B"/>
                </a:solidFill>
                <a:latin typeface="Calibri"/>
              </a:rPr>
              <a:t>reuses damage photos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81826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pHash fingerprint match → flagged for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931920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Support Ops Agent — Sana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62272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681728"/>
            <a:ext cx="4919472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Goal: </a:t>
            </a:r>
            <a:r>
              <a:rPr sz="1150" b="0">
                <a:solidFill>
                  <a:srgbClr val="1E293B"/>
                </a:solidFill>
                <a:latin typeface="Calibri"/>
              </a:rPr>
              <a:t>resolve claims fast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Pain: </a:t>
            </a:r>
            <a:r>
              <a:rPr sz="1150" b="0">
                <a:solidFill>
                  <a:srgbClr val="1E293B"/>
                </a:solidFill>
                <a:latin typeface="Calibri"/>
              </a:rPr>
              <a:t>buried in low-risk queues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only flagged claims, with trust score &amp; signal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931920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931920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Finance Owner — Arjun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4462272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4681728"/>
            <a:ext cx="4919472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45309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Goal: </a:t>
            </a:r>
            <a:r>
              <a:rPr sz="1150" b="0">
                <a:solidFill>
                  <a:srgbClr val="1E293B"/>
                </a:solidFill>
                <a:latin typeface="Calibri"/>
              </a:rPr>
              <a:t>control leakage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45309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Pain: </a:t>
            </a:r>
            <a:r>
              <a:rPr sz="1150" b="0">
                <a:solidFill>
                  <a:srgbClr val="1E293B"/>
                </a:solidFill>
                <a:latin typeface="Calibri"/>
              </a:rPr>
              <a:t>rising refund costs eating margins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45309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quantifiable fraud prevention + full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CORE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5-Signal Scoring Engine &amp; Policy Bands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48132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8132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Account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normal, established account activity?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640080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Claim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57860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amount, timing &amp; item type match profile?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45536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45536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Upstream Risk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145536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device ID or network flags present?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145536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12464"/>
            <a:ext cx="640080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1246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Photo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712464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visual evidence of damage/spoilage?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71246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9392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Photo Authenticity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279392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genuine — not edited, AI-made, or reused?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279392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3744"/>
                </a:solidFill>
                <a:latin typeface="Calibri"/>
              </a:rPr>
              <a:t>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19472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Score = weighted average of applicable signals → 0–100. Photo authenticity carries the most weight.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1481328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1627632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47857"/>
                </a:solidFill>
                <a:latin typeface="Cambria"/>
              </a:rPr>
              <a:t>High Trust  </a:t>
            </a:r>
            <a:r>
              <a:rPr sz="1500" b="0">
                <a:solidFill>
                  <a:srgbClr val="64748B"/>
                </a:solidFill>
                <a:latin typeface="Cambria"/>
              </a:rPr>
              <a:t>(Score ≥ 70)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2084832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Auto-credit on the spot. Zero friction.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2779776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2926080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Cambria"/>
              </a:rPr>
              <a:t>Medium Trust  </a:t>
            </a:r>
            <a:r>
              <a:rPr sz="1500" b="0">
                <a:solidFill>
                  <a:srgbClr val="64748B"/>
                </a:solidFill>
                <a:latin typeface="Cambria"/>
              </a:rPr>
              <a:t>(40–69)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383280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Route to the standard manual-review queue.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078224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4224528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1826"/>
                </a:solidFill>
                <a:latin typeface="Cambria"/>
              </a:rPr>
              <a:t>Low Trust  </a:t>
            </a:r>
            <a:r>
              <a:rPr sz="1500" b="0">
                <a:solidFill>
                  <a:srgbClr val="64748B"/>
                </a:solidFill>
                <a:latin typeface="Cambria"/>
              </a:rPr>
              <a:t>(&lt; 40)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681728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Route to the priority fraud-review queue.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394959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Never auto-decline — a human always reviews low scores. Weights &amp; cutoffs are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3-Layer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2121408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481328"/>
            <a:ext cx="86227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82496"/>
            <a:ext cx="81381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Consumer app / PWA  →  client-side camera + Darkness Gate (&lt;15 luminance)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→  POST /returns/evaluate</a:t>
            </a:r>
          </a:p>
        </p:txBody>
      </p:sp>
      <p:sp>
        <p:nvSpPr>
          <p:cNvPr id="8" name="Down Arrow 7"/>
          <p:cNvSpPr/>
          <p:nvPr/>
        </p:nvSpPr>
        <p:spPr>
          <a:xfrm>
            <a:off x="7040880" y="2761488"/>
            <a:ext cx="457200" cy="25603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2121408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SCORING LOGIC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108960"/>
            <a:ext cx="86227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310128"/>
            <a:ext cx="81381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Vision check  →  pHash reuse matcher  →  5-signal deterministic engine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→  policy band decision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040880" y="4389120"/>
            <a:ext cx="457200" cy="25603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36592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2121408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AUDIT &amp; DATA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4736592"/>
            <a:ext cx="86227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937759"/>
            <a:ext cx="81381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Claim log &amp; feature-fingerprint store  ·  GET /evaluations/{id}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Stores extracted feature vectors &amp; pHash — NEVER raw photos.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59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1826"/>
                </a:solidFill>
                <a:latin typeface="Calibri"/>
              </a:rPr>
              <a:t>Only extracted feature vectors + a photo fingerprint are stored — never the raw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Consumer UX Journey &amp; Quality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Step 1 · Order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31136"/>
            <a:ext cx="308152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Itemized bill: </a:t>
            </a:r>
            <a:r>
              <a:rPr sz="1150" b="0">
                <a:solidFill>
                  <a:srgbClr val="1E293B"/>
                </a:solidFill>
                <a:latin typeface="Calibri"/>
              </a:rPr>
              <a:t>full order + delivered status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Clear CTA: </a:t>
            </a:r>
            <a:r>
              <a:rPr sz="1150" b="0">
                <a:solidFill>
                  <a:srgbClr val="1E293B"/>
                </a:solidFill>
                <a:latin typeface="Calibri"/>
              </a:rPr>
              <a:t>“Report Issue” on the order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2971800"/>
            <a:ext cx="36576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3128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Step 2 · Camera + Darkness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231136"/>
            <a:ext cx="308152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Deferred camera: </a:t>
            </a:r>
            <a:r>
              <a:rPr sz="1150" b="0">
                <a:solidFill>
                  <a:srgbClr val="1E293B"/>
                </a:solidFill>
                <a:latin typeface="Calibri"/>
              </a:rPr>
              <a:t>opens only on tap; snap or upload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Luminance gate: </a:t>
            </a:r>
            <a:r>
              <a:rPr sz="1150" b="0">
                <a:solidFill>
                  <a:srgbClr val="1E293B"/>
                </a:solidFill>
                <a:latin typeface="Calibri"/>
              </a:rPr>
              <a:t>rejects dark/blank photos (&lt;15) before upload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Privacy: </a:t>
            </a:r>
            <a:r>
              <a:rPr sz="1150" b="0">
                <a:solidFill>
                  <a:srgbClr val="1E293B"/>
                </a:solidFill>
                <a:latin typeface="Calibri"/>
              </a:rPr>
              <a:t>camera stops right after the snap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971800"/>
            <a:ext cx="36576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Step 3 · Instant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231136"/>
            <a:ext cx="308152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Sub-second decision: </a:t>
            </a:r>
            <a:r>
              <a:rPr sz="1150" b="0">
                <a:solidFill>
                  <a:srgbClr val="1E293B"/>
                </a:solidFill>
                <a:latin typeface="Calibri"/>
              </a:rPr>
              <a:t>score + trust band shown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Transparent: </a:t>
            </a:r>
            <a:r>
              <a:rPr sz="1150" b="0">
                <a:solidFill>
                  <a:srgbClr val="1E293B"/>
                </a:solidFill>
                <a:latin typeface="Calibri"/>
              </a:rPr>
              <a:t>optional per-signal breakdown inspector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auto-credit or routed to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36118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Decision latency &lt; 1s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5212080"/>
            <a:ext cx="36118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521208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No raw photo stored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5212080"/>
            <a:ext cx="36118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521208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Transparent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Edge Cases &amp; System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1672" cy="5120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554480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Unhandled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554480"/>
            <a:ext cx="4526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How Trust Engine Handles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Dark / blank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2140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unscoreable image, wasted API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21408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Client-side luminance gate blocks the upload before any network call; prompts the user for clearer lighting.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2656"/>
            <a:ext cx="11091672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6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Same photo across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62656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serial fraud-ring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62656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pHash Hamming distance flags exact &amp; near-duplicate images across different accounts → routes to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03904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03904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Same-account re-upload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03904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false accusation of an honest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803904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Same-account, same-claim re-uploads are permitted and not flagged as fraud.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45152"/>
            <a:ext cx="11091672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Vision model downtime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645152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scoring stalls, blocking refunds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645152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Graceful fallback to account/claim heuristics; refunds are never completely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MEASURING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Quantitative Metrics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7724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Targets are design goals, validated in shadow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91672" cy="5120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54480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554480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21408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Auto-approval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21408"/>
            <a:ext cx="5760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friction removed for honest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121408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Calibri"/>
              </a:rPr>
              <a:t>&gt; 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9504"/>
            <a:ext cx="11091672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4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Fraud catch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89504"/>
            <a:ext cx="5760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refund leakage stopped at claim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889504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Calibri"/>
              </a:rPr>
              <a:t>&gt; 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Decision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657600"/>
            <a:ext cx="5760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keeps the refund experience instant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657600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Calibri"/>
              </a:rPr>
              <a:t>&lt; 1s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25696"/>
            <a:ext cx="11091672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25696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Review deflection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425696"/>
            <a:ext cx="5760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support review queue load removed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4425696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Calibri"/>
              </a:rPr>
              <a:t>&gt; 60%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48655"/>
            <a:ext cx="11091672" cy="1097280"/>
          </a:xfrm>
          <a:prstGeom prst="roundRect">
            <a:avLst>
              <a:gd name="adj" fmla="val 9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9495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1826"/>
                </a:solidFill>
                <a:latin typeface="Cambria"/>
              </a:rPr>
              <a:t>Guardrails — must-not-cross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79007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False-positive rate &lt; 5% on honest claims</a:t>
            </a:r>
            <a:r>
              <a:rPr sz="1150" b="0">
                <a:solidFill>
                  <a:srgbClr val="E23744"/>
                </a:solidFill>
                <a:latin typeface="Calibri"/>
              </a:rPr>
              <a:t>     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Never auto-decline — low scores go to human agents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Zero raw-photo storage — feature vectors &amp; fingerprints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mbria"/>
              </a:rPr>
              <a:t>Phased GTM &amp; Product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 · Shadow 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12848"/>
            <a:ext cx="3081528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Score live claims: </a:t>
            </a:r>
            <a:r>
              <a:rPr sz="1150" b="0">
                <a:solidFill>
                  <a:srgbClr val="1E293B"/>
                </a:solidFill>
                <a:latin typeface="Calibri"/>
              </a:rPr>
              <a:t>act on none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Tune: </a:t>
            </a:r>
            <a:r>
              <a:rPr sz="1150" b="0">
                <a:solidFill>
                  <a:srgbClr val="1E293B"/>
                </a:solidFill>
                <a:latin typeface="Calibri"/>
              </a:rPr>
              <a:t>signal weights on real traffic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2377440"/>
            <a:ext cx="36576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3128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· Beta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212848"/>
            <a:ext cx="3081528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Auto-credit: </a:t>
            </a:r>
            <a:r>
              <a:rPr sz="1150" b="0">
                <a:solidFill>
                  <a:srgbClr val="1E293B"/>
                </a:solidFill>
                <a:latin typeface="Calibri"/>
              </a:rPr>
              <a:t>high-trust in one region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Review: </a:t>
            </a:r>
            <a:r>
              <a:rPr sz="1150" b="0">
                <a:solidFill>
                  <a:srgbClr val="1E293B"/>
                </a:solidFill>
                <a:latin typeface="Calibri"/>
              </a:rPr>
              <a:t>everything else; watch guardrails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377440"/>
            <a:ext cx="36576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· Full 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212848"/>
            <a:ext cx="3081528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Enforce: </a:t>
            </a:r>
            <a:r>
              <a:rPr sz="1150" b="0">
                <a:solidFill>
                  <a:srgbClr val="1E293B"/>
                </a:solidFill>
                <a:latin typeface="Calibri"/>
              </a:rPr>
              <a:t>policy bands across all categories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E293B"/>
                </a:solidFill>
                <a:latin typeface="Calibri"/>
              </a:rPr>
              <a:t>Scale: </a:t>
            </a:r>
            <a:r>
              <a:rPr sz="1150" b="0">
                <a:solidFill>
                  <a:srgbClr val="1E293B"/>
                </a:solidFill>
                <a:latin typeface="Calibri"/>
              </a:rPr>
              <a:t>as accuracy &amp; false-positive rate 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630168" cy="1965960"/>
          </a:xfrm>
          <a:prstGeom prst="roundRect">
            <a:avLst>
              <a:gd name="adj" fmla="val 9000"/>
            </a:avLst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23360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47857"/>
                </a:solidFill>
                <a:latin typeface="Cambria"/>
              </a:rPr>
              <a:t>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443984"/>
            <a:ext cx="31912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5-signal scoring, darkness gate, pHash matcher, policy bands, PWA.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840480"/>
            <a:ext cx="3630168" cy="1965960"/>
          </a:xfrm>
          <a:prstGeom prst="roundRect">
            <a:avLst>
              <a:gd name="adj" fmla="val 9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4023360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Cambria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443984"/>
            <a:ext cx="31912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Trained damage vision model, indexed pHash store at scale, agent review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40480"/>
            <a:ext cx="3630168" cy="19659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23360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Cambria"/>
              </a:rPr>
              <a:t>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43984"/>
            <a:ext cx="31912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Agent override learning loops, per-category weight tuning, chargeback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1826"/>
                </a:solidFill>
                <a:latin typeface="Calibri"/>
              </a:rPr>
              <a:t>Out of scope: </a:t>
            </a:r>
            <a:r>
              <a:rPr sz="1100" b="0">
                <a:solidFill>
                  <a:srgbClr val="64748B"/>
                </a:solidFill>
                <a:latin typeface="Calibri"/>
              </a:rPr>
              <a:t>payments &amp; settlement · chargeback ops · identity / KYC · ticketing / CRM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